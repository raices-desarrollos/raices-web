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50292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ices_logo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02336"/>
            <a:ext cx="795451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6642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A97D"/>
                </a:solidFill>
                <a:latin typeface="Helvetica Neue"/>
              </a:rPr>
              <a:t>PRESENTACIÓN PARA INVERSORES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75104"/>
            <a:ext cx="2377440" cy="9525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057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0" b="0" i="0">
                <a:solidFill>
                  <a:srgbClr val="F8F7F4"/>
                </a:solidFill>
                <a:latin typeface="Georgia"/>
              </a:rPr>
              <a:t>Naturaleza</a:t>
            </a:r>
          </a:p>
          <a:p>
            <a:pPr algn="l"/>
            <a:r>
              <a:rPr sz="7400" b="0" i="0">
                <a:solidFill>
                  <a:srgbClr val="7E8E5F"/>
                </a:solidFill>
                <a:latin typeface="Georgia"/>
              </a:rPr>
              <a:t>urbana.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2803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F9089"/>
                </a:solidFill>
                <a:latin typeface="Helvetica Neue"/>
              </a:rPr>
              <a:t>Edificios con arraigo, verde integrado e identidad propia.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016752"/>
            <a:ext cx="4389120" cy="9525"/>
          </a:xfrm>
          <a:prstGeom prst="rect">
            <a:avLst/>
          </a:prstGeom>
          <a:solidFill>
            <a:srgbClr val="36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36245"/>
                </a:solidFill>
                <a:latin typeface="Helvetica Neue"/>
              </a:rPr>
              <a:t>RAÍCES DESARROLLADORES · BUENOS AIRES ·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2377440"/>
            <a:ext cx="2286000" cy="9525"/>
          </a:xfrm>
          <a:prstGeom prst="rect">
            <a:avLst/>
          </a:prstGeom>
          <a:solidFill>
            <a:srgbClr val="2C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09760" y="2670048"/>
            <a:ext cx="2286000" cy="9525"/>
          </a:xfrm>
          <a:prstGeom prst="rect">
            <a:avLst/>
          </a:prstGeom>
          <a:solidFill>
            <a:srgbClr val="2C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09760" y="2962656"/>
            <a:ext cx="2286000" cy="9525"/>
          </a:xfrm>
          <a:prstGeom prst="rect">
            <a:avLst/>
          </a:prstGeom>
          <a:solidFill>
            <a:srgbClr val="2C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3255264"/>
            <a:ext cx="2286000" cy="9525"/>
          </a:xfrm>
          <a:prstGeom prst="rect">
            <a:avLst/>
          </a:prstGeom>
          <a:solidFill>
            <a:srgbClr val="2C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3547872"/>
            <a:ext cx="2286000" cy="9525"/>
          </a:xfrm>
          <a:prstGeom prst="rect">
            <a:avLst/>
          </a:prstGeom>
          <a:solidFill>
            <a:srgbClr val="2C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3840480"/>
            <a:ext cx="2286000" cy="9525"/>
          </a:xfrm>
          <a:prstGeom prst="rect">
            <a:avLst/>
          </a:prstGeom>
          <a:solidFill>
            <a:srgbClr val="2C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36245"/>
                </a:solidFill>
                <a:latin typeface="Helvetica Neue"/>
              </a:rPr>
              <a:t>LA OPORTUNIDAD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7772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1A18"/>
                </a:solidFill>
                <a:latin typeface="Georgia"/>
              </a:rPr>
              <a:t>El mercado construye igual.
Raíces, no.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11155680" cy="9525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633472"/>
            <a:ext cx="3611880" cy="3429000"/>
          </a:xfrm>
          <a:prstGeom prst="rect">
            <a:avLst/>
          </a:prstGeom>
          <a:solidFill>
            <a:srgbClr val="F8F7F4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633472"/>
            <a:ext cx="3611880" cy="50292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1635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4A97D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18"/>
                </a:solidFill>
                <a:latin typeface="Helvetica Neue"/>
              </a:rPr>
              <a:t>Exceso de oferta genérica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5072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56040"/>
                </a:solidFill>
                <a:latin typeface="Helvetica Neue"/>
              </a:rPr>
              <a:t>El mercado porteño tiene sobreoferta de proyectos intercambiables. La competencia es por precio; no existe diferenciación de marca.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8264" y="2633472"/>
            <a:ext cx="3611880" cy="3429000"/>
          </a:xfrm>
          <a:prstGeom prst="rect">
            <a:avLst/>
          </a:prstGeom>
          <a:solidFill>
            <a:srgbClr val="F8F7F4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2633472"/>
            <a:ext cx="3611880" cy="50292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81635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4A97D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4747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18"/>
                </a:solidFill>
                <a:latin typeface="Helvetica Neue"/>
              </a:rPr>
              <a:t>Verde como decoración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4005072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56040"/>
                </a:solidFill>
                <a:latin typeface="Helvetica Neue"/>
              </a:rPr>
              <a:t>La vegetación se agrega al final del proyecto como recurso de venta. No hay sistema real: sin tensores, sin riego, sin mantenimiento previsto.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93608" y="2633472"/>
            <a:ext cx="3611880" cy="3429000"/>
          </a:xfrm>
          <a:prstGeom prst="rect">
            <a:avLst/>
          </a:prstGeom>
          <a:solidFill>
            <a:srgbClr val="F8F7F4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93608" y="2633472"/>
            <a:ext cx="3611880" cy="5029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81635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4A97D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4747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18"/>
                </a:solidFill>
                <a:latin typeface="Helvetica Neue"/>
              </a:rPr>
              <a:t>Desarrolladoras sin narrativa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4005072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56040"/>
                </a:solidFill>
                <a:latin typeface="Helvetica Neue"/>
              </a:rPr>
              <a:t>Las desarrolladoras no construyen marca entre proyectos. Cada obra es una entidad aislada, sin continuidad ni reconocimiento acumulado.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RAÍCES DESARROLLADORES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739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F9089"/>
                </a:solidFill>
                <a:latin typeface="Helvetica Neue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ices_logo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02336"/>
            <a:ext cx="719694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15727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A97D"/>
                </a:solidFill>
                <a:latin typeface="Helvetica Neue"/>
              </a:rPr>
              <a:t>FILOSOFÍA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883664"/>
            <a:ext cx="2560320" cy="9525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2011680"/>
            <a:ext cx="4297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8F7F4"/>
                </a:solidFill>
                <a:latin typeface="Georgia"/>
              </a:rPr>
              <a:t>La ciudad también
puede echar raíces.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4206240"/>
            <a:ext cx="4251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F9089"/>
                </a:solidFill>
                <a:latin typeface="Helvetica Neue"/>
              </a:rPr>
              <a:t>Cada proyecto es una oportunidad de dejar
algo vivo en el entorno. No edificamos
para el mercado genérico: edificamos
con criterio, identidad y futuro.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7488" y="868680"/>
            <a:ext cx="36576" cy="1325880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868680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8"/>
                </a:solidFill>
                <a:latin typeface="Helvetica Neue"/>
              </a:rPr>
              <a:t>Naturaleza con criterio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1362456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6040"/>
                </a:solidFill>
                <a:latin typeface="Helvetica Neue"/>
              </a:rPr>
              <a:t>El verde entra en la decisión de fachada, balcones, terraza, riego y mantenimiento. Desde el primer boceto, no al final.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2587752"/>
            <a:ext cx="6675120" cy="9525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7488" y="2788920"/>
            <a:ext cx="36576" cy="1325880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2788920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8"/>
                </a:solidFill>
                <a:latin typeface="Helvetica Neue"/>
              </a:rPr>
              <a:t>Identidad acumulada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282696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6040"/>
                </a:solidFill>
                <a:latin typeface="Helvetica Neue"/>
              </a:rPr>
              <a:t>Cada proyecto nombrado como un árbol autóctono. La marca crece con cada obra; el reconocimiento es colectivo y duradero.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4507992"/>
            <a:ext cx="6675120" cy="9525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47488" y="4709160"/>
            <a:ext cx="36576" cy="1325880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4709160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8"/>
                </a:solidFill>
                <a:latin typeface="Helvetica Neue"/>
              </a:rPr>
              <a:t>Rentabilidad con propósito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5202936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6040"/>
                </a:solidFill>
                <a:latin typeface="Helvetica Neue"/>
              </a:rPr>
              <a:t>Si invertir en verde reduce el margen, sigue siendo el camino correcto. El objetivo es una desarrolladora con criterio propio y futuro.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60175" y="64739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4A97D"/>
                </a:solidFill>
                <a:latin typeface="Helvetica Neue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3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36245"/>
                </a:solidFill>
                <a:latin typeface="Helvetica Neue"/>
              </a:rPr>
              <a:t>IDENTIDAD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8580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A1A18"/>
                </a:solidFill>
                <a:latin typeface="Georgia"/>
              </a:rPr>
              <a:t>Un sistema visual
bautizado como un bosque.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59152"/>
            <a:ext cx="1664208" cy="804672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8"/>
                </a:solidFill>
                <a:latin typeface="Helvetica Neue"/>
              </a:rPr>
              <a:t>Tinta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02152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#1A1A18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6584" y="2359152"/>
            <a:ext cx="1664208" cy="804672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6584" y="3246120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8"/>
                </a:solidFill>
                <a:latin typeface="Helvetica Neue"/>
              </a:rPr>
              <a:t>Musgo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6584" y="3502152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#536245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359152"/>
            <a:ext cx="1664208" cy="804672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3246120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8"/>
                </a:solidFill>
                <a:latin typeface="Helvetica Neue"/>
              </a:rPr>
              <a:t>Liquen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3502152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#7E8E5F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2359152"/>
            <a:ext cx="1664208" cy="804672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3246120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8"/>
                </a:solidFill>
                <a:latin typeface="Helvetica Neue"/>
              </a:rPr>
              <a:t>Arena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3502152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#C4A97D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7576" y="2359152"/>
            <a:ext cx="1664208" cy="804672"/>
          </a:xfrm>
          <a:prstGeom prst="rect">
            <a:avLst/>
          </a:prstGeom>
          <a:solidFill>
            <a:srgbClr val="F0EDE6"/>
          </a:solidFill>
          <a:ln w="6350">
            <a:solidFill>
              <a:srgbClr val="C4A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7576" y="3246120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8"/>
                </a:solidFill>
                <a:latin typeface="Helvetica Neue"/>
              </a:rPr>
              <a:t>Lino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3502152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#F0EDE6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2359152"/>
            <a:ext cx="1664208" cy="80467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3246120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8"/>
                </a:solidFill>
                <a:latin typeface="Helvetica Neue"/>
              </a:rPr>
              <a:t>Ceibo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502152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#B85C42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13632"/>
            <a:ext cx="11173968" cy="9525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133087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36245"/>
                </a:solidFill>
                <a:latin typeface="Helvetica Neue"/>
              </a:rPr>
              <a:t>SISTEMA DE NAMING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2628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8"/>
                </a:solidFill>
                <a:latin typeface="Georgia"/>
              </a:rPr>
              <a:t>Cada proyecto = un árbol autóctono + la calle.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120640"/>
            <a:ext cx="2148840" cy="658368"/>
          </a:xfrm>
          <a:prstGeom prst="rect">
            <a:avLst/>
          </a:prstGeom>
          <a:solidFill>
            <a:srgbClr val="F8F7F4"/>
          </a:solidFill>
          <a:ln w="6350">
            <a:solidFill>
              <a:srgbClr val="C4A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120640"/>
            <a:ext cx="2148840" cy="5029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5230368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8"/>
                </a:solidFill>
                <a:latin typeface="Helvetica Neue"/>
              </a:rPr>
              <a:t>Ceibo Vidal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" y="5541264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85C42"/>
                </a:solidFill>
                <a:latin typeface="Helvetica Neue"/>
              </a:rPr>
              <a:t>P.001 · Activo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25496" y="5120640"/>
            <a:ext cx="2148840" cy="658368"/>
          </a:xfrm>
          <a:prstGeom prst="rect">
            <a:avLst/>
          </a:prstGeom>
          <a:solidFill>
            <a:srgbClr val="DCD7CE"/>
          </a:solidFill>
          <a:ln w="6350">
            <a:solidFill>
              <a:srgbClr val="C4A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25496" y="5120640"/>
            <a:ext cx="2148840" cy="50292"/>
          </a:xfrm>
          <a:prstGeom prst="rect">
            <a:avLst/>
          </a:prstGeom>
          <a:solidFill>
            <a:srgbClr val="8F9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53512" y="5230368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F9089"/>
                </a:solidFill>
                <a:latin typeface="Helvetica Neue"/>
              </a:rPr>
              <a:t>Jacarandá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53512" y="5541264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P.002 · Reserva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48072" y="5120640"/>
            <a:ext cx="2148840" cy="658368"/>
          </a:xfrm>
          <a:prstGeom prst="rect">
            <a:avLst/>
          </a:prstGeom>
          <a:solidFill>
            <a:srgbClr val="DCD7CE"/>
          </a:solidFill>
          <a:ln w="6350">
            <a:solidFill>
              <a:srgbClr val="C4A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48072" y="5120640"/>
            <a:ext cx="2148840" cy="50292"/>
          </a:xfrm>
          <a:prstGeom prst="rect">
            <a:avLst/>
          </a:prstGeom>
          <a:solidFill>
            <a:srgbClr val="8F9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76088" y="5230368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F9089"/>
                </a:solidFill>
                <a:latin typeface="Helvetica Neue"/>
              </a:rPr>
              <a:t>Ombú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76088" y="5541264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P.003 · Reserva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70648" y="5120640"/>
            <a:ext cx="2148840" cy="658368"/>
          </a:xfrm>
          <a:prstGeom prst="rect">
            <a:avLst/>
          </a:prstGeom>
          <a:solidFill>
            <a:srgbClr val="DCD7CE"/>
          </a:solidFill>
          <a:ln w="6350">
            <a:solidFill>
              <a:srgbClr val="C4A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70648" y="5120640"/>
            <a:ext cx="2148840" cy="50292"/>
          </a:xfrm>
          <a:prstGeom prst="rect">
            <a:avLst/>
          </a:prstGeom>
          <a:solidFill>
            <a:srgbClr val="8F9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98664" y="5230368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F9089"/>
                </a:solidFill>
                <a:latin typeface="Helvetica Neue"/>
              </a:rPr>
              <a:t>Tipa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98664" y="5541264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P.004 · Reserva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93224" y="5120640"/>
            <a:ext cx="2148840" cy="658368"/>
          </a:xfrm>
          <a:prstGeom prst="rect">
            <a:avLst/>
          </a:prstGeom>
          <a:solidFill>
            <a:srgbClr val="DCD7CE"/>
          </a:solidFill>
          <a:ln w="6350">
            <a:solidFill>
              <a:srgbClr val="C4A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93224" y="5120640"/>
            <a:ext cx="2148840" cy="50292"/>
          </a:xfrm>
          <a:prstGeom prst="rect">
            <a:avLst/>
          </a:prstGeom>
          <a:solidFill>
            <a:srgbClr val="8F9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21240" y="5230368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F9089"/>
                </a:solidFill>
                <a:latin typeface="Helvetica Neue"/>
              </a:rPr>
              <a:t>Lapacho · Algarrobo…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5541264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Cartera futura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4739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RAÍCES DESARROLLADORES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60175" y="64739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F9089"/>
                </a:solidFill>
                <a:latin typeface="Helvetica Neue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487168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B85C42"/>
                </a:solidFill>
                <a:latin typeface="Helvetica Neue"/>
              </a:rPr>
              <a:t>PROYECTO 001 · EN DESARROLLO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8368"/>
            <a:ext cx="2194560" cy="9525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F8F7F4"/>
                </a:solidFill>
                <a:latin typeface="Georgia"/>
              </a:rPr>
              <a:t>Ceibo Vidal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55648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A97D"/>
                </a:solidFill>
                <a:latin typeface="Helvetica Neue"/>
              </a:rPr>
              <a:t>Vidal 3849 · Palermo · Ciudad de Buenos Aires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788920"/>
            <a:ext cx="2743200" cy="1874519"/>
          </a:xfrm>
          <a:prstGeom prst="rect">
            <a:avLst/>
          </a:prstGeom>
          <a:solidFill>
            <a:srgbClr val="F0EDE6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788920"/>
            <a:ext cx="2743200" cy="50292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980944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8"/>
                </a:solidFill>
                <a:latin typeface="Georgia"/>
              </a:rPr>
              <a:t>PB + 4 pisos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9089"/>
                </a:solidFill>
                <a:latin typeface="Helvetica Neue"/>
              </a:rPr>
              <a:t>Escala barrial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788920"/>
            <a:ext cx="2743200" cy="1874519"/>
          </a:xfrm>
          <a:prstGeom prst="rect">
            <a:avLst/>
          </a:prstGeom>
          <a:solidFill>
            <a:srgbClr val="F0EDE6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2788920"/>
            <a:ext cx="2743200" cy="50292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980944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8"/>
                </a:solidFill>
                <a:latin typeface="Georgia"/>
              </a:rPr>
              <a:t>3 tipologías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65760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9089"/>
                </a:solidFill>
                <a:latin typeface="Helvetica Neue"/>
              </a:rPr>
              <a:t>por planta tipo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2788920"/>
            <a:ext cx="2743200" cy="1874519"/>
          </a:xfrm>
          <a:prstGeom prst="rect">
            <a:avLst/>
          </a:prstGeom>
          <a:solidFill>
            <a:srgbClr val="F0EDE6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2788920"/>
            <a:ext cx="2743200" cy="50292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2980944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8"/>
                </a:solidFill>
                <a:latin typeface="Georgia"/>
              </a:rPr>
              <a:t>39 – 79 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65760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9089"/>
                </a:solidFill>
                <a:latin typeface="Helvetica Neue"/>
              </a:rPr>
              <a:t>Monoambiente a 3 ambientes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44584" y="2788920"/>
            <a:ext cx="2743200" cy="1874519"/>
          </a:xfrm>
          <a:prstGeom prst="rect">
            <a:avLst/>
          </a:prstGeom>
          <a:solidFill>
            <a:srgbClr val="F0EDE6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4584" y="2788920"/>
            <a:ext cx="2743200" cy="5029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27464" y="2980944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8"/>
                </a:solidFill>
                <a:latin typeface="Georgia"/>
              </a:rPr>
              <a:t>100% con balcón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365760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9089"/>
                </a:solidFill>
                <a:latin typeface="Helvetica Neue"/>
              </a:rPr>
              <a:t>Expansión vegetal exterior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828032"/>
            <a:ext cx="11338560" cy="9525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98348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6040"/>
                </a:solidFill>
                <a:latin typeface="Helvetica Neue"/>
              </a:rPr>
              <a:t>Estado: En desarrollo · Inicio de obra previsto 2025.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468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1">
                <a:solidFill>
                  <a:srgbClr val="1A1A18"/>
                </a:solidFill>
                <a:latin typeface="Georgia"/>
              </a:rPr>
              <a:t>"El primer edificio de una serie. El punto de partida de la marca."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RAÍCES DESARROLLADORES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60175" y="64739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F9089"/>
                </a:solidFill>
                <a:latin typeface="Helvetica Neue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36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91072" y="0"/>
            <a:ext cx="5900623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91072" y="0"/>
            <a:ext cx="64008" cy="6858000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A97D"/>
                </a:solidFill>
                <a:latin typeface="Helvetica Neue"/>
              </a:rPr>
              <a:t>VERDE EDILICIO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8F7F4"/>
                </a:solidFill>
                <a:latin typeface="Georgia"/>
              </a:rPr>
              <a:t>Un sistema vivo,
no una maceta suelta.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9718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A97D"/>
                </a:solidFill>
                <a:latin typeface="Helvetica Neue"/>
              </a:rPr>
              <a:t>La vegetación se diseña con tensores, drenajes
y riego automatizado desde el inicio del proyecto,
no como agregado de último momento.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206240"/>
            <a:ext cx="2743200" cy="9525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37083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4A97D"/>
                </a:solidFill>
                <a:latin typeface="Helvetica Neue"/>
              </a:rPr>
              <a:t>Diferencial real y sostenible
frente a la competencia.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3952" y="905256"/>
            <a:ext cx="36576" cy="1298448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86868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8"/>
                </a:solidFill>
                <a:latin typeface="Helvetica Neue"/>
              </a:rPr>
              <a:t>Terrazas verdes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362456"/>
            <a:ext cx="5212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6040"/>
                </a:solidFill>
                <a:latin typeface="Helvetica Neue"/>
              </a:rPr>
              <a:t>Espacios comunes en la cubierta con jardineras, agua y sombra natural. El remate del edificio es habitable, no técnico.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1968" y="2606040"/>
            <a:ext cx="5303520" cy="9525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3952" y="2825496"/>
            <a:ext cx="36576" cy="1298448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78892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8"/>
                </a:solidFill>
                <a:latin typeface="Helvetica Neue"/>
              </a:rPr>
              <a:t>Balcones vivos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282696"/>
            <a:ext cx="5212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6040"/>
                </a:solidFill>
                <a:latin typeface="Helvetica Neue"/>
              </a:rPr>
              <a:t>Plantas trepadoras con tensores verticales desde el proyecto. Fachada vegetal a escala edilicia, no macetas aisladas.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4526280"/>
            <a:ext cx="5303520" cy="9525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3952" y="4745736"/>
            <a:ext cx="36576" cy="1298448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47091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8"/>
                </a:solidFill>
                <a:latin typeface="Helvetica Neue"/>
              </a:rPr>
              <a:t>Sistema integrado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5202936"/>
            <a:ext cx="5212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6040"/>
                </a:solidFill>
                <a:latin typeface="Helvetica Neue"/>
              </a:rPr>
              <a:t>Riego automatizado, drenajes y mantenimiento previstos desde el diseño. Sostenible para propietarios y administración.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60175" y="64739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4A97D"/>
                </a:solidFill>
                <a:latin typeface="Helvetica Neue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36245"/>
                </a:solidFill>
                <a:latin typeface="Helvetica Neue"/>
              </a:rPr>
              <a:t>TIPOLOGÍAS · CEIBO VIDAL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A1A18"/>
                </a:solidFill>
                <a:latin typeface="Georgia"/>
              </a:rPr>
              <a:t>Tres tipologías por planta,
todas con balcón.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59152"/>
            <a:ext cx="10789920" cy="475488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24414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7F4"/>
                </a:solidFill>
                <a:latin typeface="Helvetica Neue"/>
              </a:rPr>
              <a:t>Tipología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6" y="24414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7F4"/>
                </a:solidFill>
                <a:latin typeface="Helvetica Neue"/>
              </a:rPr>
              <a:t>Sup. cubierta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7256" y="24414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7F4"/>
                </a:solidFill>
                <a:latin typeface="Helvetica Neue"/>
              </a:rPr>
              <a:t>Balcón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296" y="24414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7F4"/>
                </a:solidFill>
                <a:latin typeface="Helvetica Neue"/>
              </a:rPr>
              <a:t>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7656" y="24414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F7F4"/>
                </a:solidFill>
                <a:latin typeface="Helvetica Neue"/>
              </a:rPr>
              <a:t>Por planta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10789920" cy="603504"/>
          </a:xfrm>
          <a:prstGeom prst="rect">
            <a:avLst/>
          </a:prstGeom>
          <a:solidFill>
            <a:srgbClr val="F8F7F4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971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8"/>
                </a:solidFill>
                <a:latin typeface="Helvetica Neue"/>
              </a:rPr>
              <a:t>Monoambiente (Dep. 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2971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35,79 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7256" y="29718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3,27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6" y="2971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39,06 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7656" y="2971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1 por piso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10789920" cy="603504"/>
          </a:xfrm>
          <a:prstGeom prst="rect">
            <a:avLst/>
          </a:prstGeom>
          <a:solidFill>
            <a:srgbClr val="F0EDE6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3630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8"/>
                </a:solidFill>
                <a:latin typeface="Helvetica Neue"/>
              </a:rPr>
              <a:t>2 ambientes (Dep. 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36301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48,39 m²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6" y="36301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7,79 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36301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56,18 m²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36301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1 por piso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51376"/>
            <a:ext cx="10789920" cy="603504"/>
          </a:xfrm>
          <a:prstGeom prst="rect">
            <a:avLst/>
          </a:prstGeom>
          <a:solidFill>
            <a:srgbClr val="F8F7F4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42885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8"/>
                </a:solidFill>
                <a:latin typeface="Helvetica Neue"/>
              </a:rPr>
              <a:t>3 ambientes (Dep. 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4136" y="42885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68,67 m²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7256" y="42885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11,08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428853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79,75 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7656" y="4288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Helvetica Neue"/>
              </a:rPr>
              <a:t>1 por piso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46320"/>
            <a:ext cx="10789920" cy="9525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109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F9089"/>
                </a:solidFill>
                <a:latin typeface="Helvetica Neue"/>
              </a:rPr>
              <a:t>Planta baja + 4 pisos · Núcleo central de circulación · Todas las unidades tienen expansión exterior.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55955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1">
                <a:solidFill>
                  <a:srgbClr val="856040"/>
                </a:solidFill>
                <a:latin typeface="Georgia"/>
              </a:rPr>
              <a:t>"Escala barrial que maximiza calidad espacial por planta."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RAÍCES DESARROLLADORES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60175" y="64739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F9089"/>
                </a:solidFill>
                <a:latin typeface="Helvetica Neue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023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E8E5F"/>
                </a:solidFill>
                <a:latin typeface="Helvetica Neue"/>
              </a:rPr>
              <a:t>VISIÓN A LARGO PLAZO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8F7F4"/>
                </a:solidFill>
                <a:latin typeface="Georgia"/>
              </a:rPr>
              <a:t>Una marca que crece
proyecto a 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060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9089"/>
                </a:solidFill>
                <a:latin typeface="Helvetica Neue"/>
              </a:rPr>
              <a:t>El modelo es acumulativo: cada edificio refuerza el anterior.
El naming por árboles construye reconocimiento colectivo y valor de marca.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547872"/>
            <a:ext cx="11384280" cy="9525"/>
          </a:xfrm>
          <a:prstGeom prst="rect">
            <a:avLst/>
          </a:prstGeom>
          <a:solidFill>
            <a:srgbClr val="36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3429000"/>
            <a:ext cx="219456" cy="219456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822191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85C42"/>
                </a:solidFill>
                <a:latin typeface="Helvetica Neue"/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1605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8F7F4"/>
                </a:solidFill>
                <a:latin typeface="Georgia"/>
              </a:rPr>
              <a:t>Ceibo Vidal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8280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4A97D"/>
                </a:solidFill>
                <a:latin typeface="Helvetica Neue"/>
              </a:rPr>
              <a:t>P.001 · Palermo · Activo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8" y="3465576"/>
            <a:ext cx="146304" cy="146304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3822191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E8E5F"/>
                </a:solidFill>
                <a:latin typeface="Helvetica Neue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41605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63D2A"/>
                </a:solidFill>
                <a:latin typeface="Georgia"/>
              </a:rPr>
              <a:t>Jacarandá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48280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F9089"/>
                </a:solidFill>
                <a:latin typeface="Helvetica Neue"/>
              </a:rPr>
              <a:t>P.002 · En reserva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465576"/>
            <a:ext cx="146304" cy="146304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3822191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A97D"/>
                </a:solidFill>
                <a:latin typeface="Helvetica Neue"/>
              </a:rPr>
              <a:t>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41605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63D2A"/>
                </a:solidFill>
                <a:latin typeface="Georgia"/>
              </a:rPr>
              <a:t>Ombú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8280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F9089"/>
                </a:solidFill>
                <a:latin typeface="Helvetica Neue"/>
              </a:rPr>
              <a:t>P.003 · En reserva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5752" y="3465576"/>
            <a:ext cx="146304" cy="146304"/>
          </a:xfrm>
          <a:prstGeom prst="rect">
            <a:avLst/>
          </a:prstGeom>
          <a:solidFill>
            <a:srgbClr val="8F9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3822191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F9089"/>
                </a:solidFill>
                <a:latin typeface="Helvetica Neue"/>
              </a:rPr>
              <a:t>2028+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41605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63D2A"/>
                </a:solidFill>
                <a:latin typeface="Georgia"/>
              </a:rPr>
              <a:t>Tipa · Lapacho ·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48280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F9089"/>
                </a:solidFill>
                <a:latin typeface="Helvetica Neue"/>
              </a:rPr>
              <a:t>Cartera en expansión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833872"/>
            <a:ext cx="5029200" cy="9525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98017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F9089"/>
                </a:solidFill>
                <a:latin typeface="Helvetica Neue"/>
              </a:rPr>
              <a:t>La rentabilidad por proyecto se suma a la construcción de una marca con valor independiente.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60175" y="64739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4A97D"/>
                </a:solidFill>
                <a:latin typeface="Helvetica Neue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B85C42"/>
                </a:solidFill>
                <a:latin typeface="Helvetica Neue"/>
              </a:rPr>
              <a:t>POR QUÉ INVERTIR EN RAÍCES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7724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A18"/>
                </a:solidFill>
                <a:latin typeface="Georgia"/>
              </a:rPr>
              <a:t>Cuatro razones para
ser parte desde el inicio.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95728"/>
            <a:ext cx="5559552" cy="1783080"/>
          </a:xfrm>
          <a:prstGeom prst="rect">
            <a:avLst/>
          </a:prstGeom>
          <a:solidFill>
            <a:srgbClr val="F8F7F4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395728"/>
            <a:ext cx="5559552" cy="5029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596896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Helvetica Neue"/>
              </a:rPr>
              <a:t>Diferenciación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54096"/>
            <a:ext cx="51572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56040"/>
                </a:solidFill>
                <a:latin typeface="Helvetica Neue"/>
              </a:rPr>
              <a:t>No competimos por precio. Competimos por identidad, calidad de diseño y verde integrado. Eso protege márgenes y permite pricing propio.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3368" y="2395728"/>
            <a:ext cx="5559552" cy="1783080"/>
          </a:xfrm>
          <a:prstGeom prst="rect">
            <a:avLst/>
          </a:prstGeom>
          <a:solidFill>
            <a:srgbClr val="F8F7F4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73368" y="2395728"/>
            <a:ext cx="5559552" cy="50292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596896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Helvetica Neue"/>
              </a:rPr>
              <a:t>Marca con valor acumulado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3054096"/>
            <a:ext cx="51572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56040"/>
                </a:solidFill>
                <a:latin typeface="Helvetica Neue"/>
              </a:rPr>
              <a:t>Cada proyecto construye la siguiente venta. El nombre Raíces vale más con cada edificio entregado. La marca es el activo.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389120"/>
            <a:ext cx="5559552" cy="1783080"/>
          </a:xfrm>
          <a:prstGeom prst="rect">
            <a:avLst/>
          </a:prstGeom>
          <a:solidFill>
            <a:srgbClr val="F8F7F4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389120"/>
            <a:ext cx="5559552" cy="50292"/>
          </a:xfrm>
          <a:prstGeom prst="rect">
            <a:avLst/>
          </a:prstGeom>
          <a:solidFill>
            <a:srgbClr val="7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590288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Helvetica Neue"/>
              </a:rPr>
              <a:t>Escala controlada, riesgo bajo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047488"/>
            <a:ext cx="51572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56040"/>
                </a:solidFill>
                <a:latin typeface="Helvetica Neue"/>
              </a:rPr>
              <a:t>PB + 4 pisos reduce la exposición financiera sin resignar calidad. Proyectos ejecutables, plazos reales, sin especulación.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3368" y="4389120"/>
            <a:ext cx="5559552" cy="1783080"/>
          </a:xfrm>
          <a:prstGeom prst="rect">
            <a:avLst/>
          </a:prstGeom>
          <a:solidFill>
            <a:srgbClr val="F8F7F4"/>
          </a:solidFill>
          <a:ln w="6350">
            <a:solidFill>
              <a:srgbClr val="E8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73368" y="4389120"/>
            <a:ext cx="5559552" cy="50292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4590288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Helvetica Neue"/>
              </a:rPr>
              <a:t>Ventana de entrada temprana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5047488"/>
            <a:ext cx="51572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56040"/>
                </a:solidFill>
                <a:latin typeface="Helvetica Neue"/>
              </a:rPr>
              <a:t>El primer proyecto define las condiciones de la sociedad. Entrar ahora es participar de la construcción de la marca desde cero.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F9089"/>
                </a:solidFill>
                <a:latin typeface="Helvetica Neue"/>
              </a:rPr>
              <a:t>RAÍCES DESARROLLADORES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739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F9089"/>
                </a:solidFill>
                <a:latin typeface="Helvetica Neue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53328" y="0"/>
            <a:ext cx="64008" cy="6858000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36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813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A97D"/>
                </a:solidFill>
                <a:latin typeface="Helvetica Neue"/>
              </a:rPr>
              <a:t>RAÍCES DESARROLLADORES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10512"/>
            <a:ext cx="3474720" cy="9525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993392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F8F7F4"/>
                </a:solidFill>
                <a:latin typeface="Georgia"/>
              </a:rPr>
              <a:t>Construyamos
juntos.</a:t>
            </a:r>
          </a:p>
        </p:txBody>
      </p:sp>
      <p:pic>
        <p:nvPicPr>
          <p:cNvPr id="7" name="Picture 6" descr="raices_logo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343400"/>
            <a:ext cx="969692" cy="1170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9618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F9089"/>
                </a:solidFill>
                <a:latin typeface="Helvetica Neue"/>
              </a:rPr>
              <a:t>Esta presentación es confidencial y fue preparada
exclusivamente para el destinatario.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A97D"/>
                </a:solidFill>
                <a:latin typeface="Helvetica Neue"/>
              </a:rPr>
              <a:t>CONTACTO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10512"/>
            <a:ext cx="5413248" cy="9525"/>
          </a:xfrm>
          <a:prstGeom prst="rect">
            <a:avLst/>
          </a:prstGeom>
          <a:solidFill>
            <a:srgbClr val="C4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F9089"/>
                </a:solidFill>
                <a:latin typeface="Helvetica Neue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04288"/>
            <a:ext cx="5413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7F4"/>
                </a:solidFill>
                <a:latin typeface="Helvetica Neue"/>
              </a:rPr>
              <a:t>contacto@raicesdesarrolladores.com.ar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529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F9089"/>
                </a:solidFill>
                <a:latin typeface="Helvetica Neue"/>
              </a:rPr>
              <a:t>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27248"/>
            <a:ext cx="5413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7F4"/>
                </a:solidFill>
                <a:latin typeface="Helvetica Neue"/>
              </a:rPr>
              <a:t>+54 9 11 · disponible en la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75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F9089"/>
                </a:solidFill>
                <a:latin typeface="Helvetica Neue"/>
              </a:rPr>
              <a:t>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50208"/>
            <a:ext cx="5413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7F4"/>
                </a:solidFill>
                <a:latin typeface="Helvetica Neue"/>
              </a:rPr>
              <a:t>raicesdesarrolladores.com.ar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988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F9089"/>
                </a:solidFill>
                <a:latin typeface="Helvetica Neue"/>
              </a:rPr>
              <a:t>SEDE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73168"/>
            <a:ext cx="5413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7F4"/>
                </a:solidFill>
                <a:latin typeface="Helvetica Neue"/>
              </a:rPr>
              <a:t>Buenos Aires, Argentina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440680"/>
            <a:ext cx="5413248" cy="9525"/>
          </a:xfrm>
          <a:prstGeom prst="rect">
            <a:avLst/>
          </a:prstGeom>
          <a:solidFill>
            <a:srgbClr val="36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6692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C3320"/>
                </a:solidFill>
                <a:latin typeface="Helvetica Neue"/>
              </a:rPr>
              <a:t>RAÍCES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0175" y="64739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4A97D"/>
                </a:solidFill>
                <a:latin typeface="Helvetica Neue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